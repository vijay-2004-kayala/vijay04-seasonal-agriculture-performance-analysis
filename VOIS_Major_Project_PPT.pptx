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9D9D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85" autoAdjust="0"/>
    <p:restoredTop sz="95033" autoAdjust="0"/>
  </p:normalViewPr>
  <p:slideViewPr>
    <p:cSldViewPr snapToGrid="0">
      <p:cViewPr>
        <p:scale>
          <a:sx n="100" d="100"/>
          <a:sy n="100" d="100"/>
        </p:scale>
        <p:origin x="82" y="-67"/>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9/8/2026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237391" y="3499338"/>
            <a:ext cx="7614139" cy="946073"/>
          </a:xfrm>
        </p:spPr>
        <p:txBody>
          <a:bodyPr vert="horz" lIns="91440" tIns="45720" rIns="91440" bIns="45720" rtlCol="0" anchor="t">
            <a:normAutofit fontScale="92500" lnSpcReduction="20000"/>
          </a:bodyPr>
          <a:lstStyle/>
          <a:p>
            <a:pPr algn="r"/>
            <a:r>
              <a:rPr lang="en-US" b="0" dirty="0" smtClean="0">
                <a:solidFill>
                  <a:schemeClr val="tx1"/>
                </a:solidFill>
              </a:rPr>
              <a:t>Student Name- </a:t>
            </a:r>
            <a:r>
              <a:rPr lang="en-US" b="0" dirty="0" err="1" smtClean="0">
                <a:solidFill>
                  <a:schemeClr val="tx1"/>
                </a:solidFill>
              </a:rPr>
              <a:t>Kayala</a:t>
            </a:r>
            <a:r>
              <a:rPr lang="en-US" b="0" dirty="0" smtClean="0">
                <a:solidFill>
                  <a:schemeClr val="tx1"/>
                </a:solidFill>
              </a:rPr>
              <a:t> Hima Naga Mani Vijay </a:t>
            </a:r>
            <a:endParaRPr lang="en-IN" b="0" dirty="0">
              <a:solidFill>
                <a:schemeClr val="tx1"/>
              </a:solidFill>
            </a:endParaRPr>
          </a:p>
          <a:p>
            <a:pPr algn="r"/>
            <a:r>
              <a:rPr lang="en-US" b="0" dirty="0">
                <a:solidFill>
                  <a:schemeClr val="tx1"/>
                </a:solidFill>
              </a:rPr>
              <a:t>College Name- </a:t>
            </a:r>
            <a:r>
              <a:rPr lang="en-US" b="0" dirty="0" smtClean="0">
                <a:solidFill>
                  <a:schemeClr val="tx1"/>
                </a:solidFill>
              </a:rPr>
              <a:t> </a:t>
            </a:r>
            <a:r>
              <a:rPr lang="en-US" b="0" dirty="0" err="1" smtClean="0">
                <a:solidFill>
                  <a:schemeClr val="tx1"/>
                </a:solidFill>
              </a:rPr>
              <a:t>Chebrolu</a:t>
            </a:r>
            <a:r>
              <a:rPr lang="en-US" b="0" dirty="0" smtClean="0">
                <a:solidFill>
                  <a:schemeClr val="tx1"/>
                </a:solidFill>
              </a:rPr>
              <a:t> Engineering College , Guntur , Andhra Pradesh.</a:t>
            </a:r>
            <a:endParaRPr lang="en-IN"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678363" y="2321169"/>
            <a:ext cx="9037137" cy="1267029"/>
          </a:xfrm>
        </p:spPr>
        <p:txBody>
          <a:bodyPr>
            <a:normAutofit/>
          </a:bodyPr>
          <a:lstStyle/>
          <a:p>
            <a:r>
              <a:rPr lang="en-GB" sz="3200" dirty="0"/>
              <a:t>Project Title </a:t>
            </a:r>
            <a:r>
              <a:rPr lang="en-GB" sz="3200" dirty="0" smtClean="0"/>
              <a:t>– Seasonal Agriculture Performance Analysis  </a:t>
            </a:r>
            <a:endParaRPr lang="en-IN" sz="3200" dirty="0"/>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957405" y="4576469"/>
            <a:ext cx="4212471" cy="646331"/>
          </a:xfrm>
          <a:prstGeom prst="rect">
            <a:avLst/>
          </a:prstGeom>
          <a:noFill/>
        </p:spPr>
        <p:txBody>
          <a:bodyPr wrap="square" rtlCol="0">
            <a:spAutoFit/>
          </a:bodyPr>
          <a:lstStyle/>
          <a:p>
            <a:r>
              <a:rPr lang="en-US" b="1" dirty="0"/>
              <a:t>AICTE STU ID : </a:t>
            </a:r>
            <a:r>
              <a:rPr lang="en-US" b="1" dirty="0" smtClean="0"/>
              <a:t>(STU68b535f90713a1756706297)</a:t>
            </a:r>
            <a:endParaRPr lang="en-US" b="1" dirty="0"/>
          </a:p>
        </p:txBody>
      </p:sp>
    </p:spTree>
    <p:extLst>
      <p:ext uri="{BB962C8B-B14F-4D97-AF65-F5344CB8AC3E}">
        <p14:creationId xmlns=""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00000"/>
              </a:lnSpc>
            </a:pPr>
            <a:r>
              <a:rPr lang="en-US" sz="1400" dirty="0" smtClean="0">
                <a:latin typeface="Times New Roman" pitchFamily="18" charset="0"/>
                <a:cs typeface="Times New Roman" pitchFamily="18" charset="0"/>
              </a:rPr>
              <a:t>Agricultural </a:t>
            </a:r>
            <a:r>
              <a:rPr lang="en-US" sz="1400" dirty="0">
                <a:latin typeface="Times New Roman" pitchFamily="18" charset="0"/>
                <a:cs typeface="Times New Roman" pitchFamily="18" charset="0"/>
              </a:rPr>
              <a:t>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400" dirty="0">
              <a:latin typeface="Times New Roman" pitchFamily="18" charset="0"/>
              <a:cs typeface="Times New Roman" pitchFamily="18" charset="0"/>
            </a:endParaRPr>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a:t>
            </a:r>
            <a:r>
              <a:rPr lang="en-GB" dirty="0" smtClean="0"/>
              <a:t>Description</a:t>
            </a:r>
            <a:br>
              <a:rPr lang="en-GB" dirty="0" smtClean="0"/>
            </a:br>
            <a:r>
              <a:rPr lang="en-GB" dirty="0" smtClean="0"/>
              <a:t/>
            </a:r>
            <a:br>
              <a:rPr lang="en-GB" dirty="0" smtClean="0"/>
            </a:br>
            <a:r>
              <a:rPr lang="en-GB" dirty="0"/>
              <a:t/>
            </a:r>
            <a:br>
              <a:rPr lang="en-GB" dirty="0"/>
            </a:br>
            <a:r>
              <a:rPr lang="en-GB" dirty="0"/>
              <a:t/>
            </a:r>
            <a:br>
              <a:rPr lang="en-GB" dirty="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1026" name="Picture 2" descr="C:\Users\Vijay\OneDrive\Pictures\Screenshots\Screenshot 2026-09-08 130340.png"/>
          <p:cNvPicPr>
            <a:picLocks noChangeAspect="1" noChangeArrowheads="1"/>
          </p:cNvPicPr>
          <p:nvPr/>
        </p:nvPicPr>
        <p:blipFill>
          <a:blip r:embed="rId4"/>
          <a:srcRect/>
          <a:stretch>
            <a:fillRect/>
          </a:stretch>
        </p:blipFill>
        <p:spPr bwMode="auto">
          <a:xfrm>
            <a:off x="394205" y="1485901"/>
            <a:ext cx="8248633" cy="4356886"/>
          </a:xfrm>
          <a:prstGeom prst="rect">
            <a:avLst/>
          </a:prstGeom>
          <a:noFill/>
        </p:spPr>
      </p:pic>
    </p:spTree>
    <p:extLst>
      <p:ext uri="{BB962C8B-B14F-4D97-AF65-F5344CB8AC3E}">
        <p14:creationId xmlns=""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664E3B60-2780-459A-8583-F095D5E7463A}"/>
              </a:ext>
            </a:extLst>
          </p:cNvPr>
          <p:cNvSpPr>
            <a:spLocks noGrp="1"/>
          </p:cNvSpPr>
          <p:nvPr>
            <p:ph type="body" sz="quarter" idx="12"/>
          </p:nvPr>
        </p:nvSpPr>
        <p:spPr>
          <a:xfrm>
            <a:off x="773724" y="1459524"/>
            <a:ext cx="7886700" cy="5143500"/>
          </a:xfrm>
        </p:spPr>
        <p:txBody>
          <a:bodyPr>
            <a:normAutofit fontScale="40000" lnSpcReduction="20000"/>
          </a:bodyPr>
          <a:lstStyle/>
          <a:p>
            <a:pPr>
              <a:buNone/>
            </a:pPr>
            <a:r>
              <a:rPr lang="en-US" sz="3600" b="1" dirty="0" smtClean="0"/>
              <a:t>1)Farmers</a:t>
            </a:r>
            <a:r>
              <a:rPr lang="en-US" sz="3600" dirty="0" smtClean="0"/>
              <a:t> </a:t>
            </a:r>
          </a:p>
          <a:p>
            <a:r>
              <a:rPr lang="en-US" sz="3600" dirty="0" smtClean="0">
                <a:latin typeface="Times New Roman" pitchFamily="18" charset="0"/>
                <a:cs typeface="Times New Roman" pitchFamily="18" charset="0"/>
              </a:rPr>
              <a:t>Use seasonal performance insights to plan sowing. </a:t>
            </a:r>
          </a:p>
          <a:p>
            <a:r>
              <a:rPr lang="en-US" sz="3600" dirty="0" smtClean="0">
                <a:latin typeface="Times New Roman" pitchFamily="18" charset="0"/>
                <a:cs typeface="Times New Roman" pitchFamily="18" charset="0"/>
              </a:rPr>
              <a:t>Select suitable irrigation and farming practices. </a:t>
            </a:r>
          </a:p>
          <a:p>
            <a:r>
              <a:rPr lang="en-US" sz="3600" dirty="0" smtClean="0">
                <a:latin typeface="Times New Roman" pitchFamily="18" charset="0"/>
                <a:cs typeface="Times New Roman" pitchFamily="18" charset="0"/>
              </a:rPr>
              <a:t>Manage resources according to seasonal conditions. </a:t>
            </a:r>
          </a:p>
          <a:p>
            <a:r>
              <a:rPr lang="en-US" sz="3600" dirty="0" smtClean="0">
                <a:latin typeface="Times New Roman" pitchFamily="18" charset="0"/>
                <a:cs typeface="Times New Roman" pitchFamily="18" charset="0"/>
              </a:rPr>
              <a:t>Reduce crop losses and improve profitability. </a:t>
            </a:r>
          </a:p>
          <a:p>
            <a:pPr>
              <a:buNone/>
            </a:pPr>
            <a:r>
              <a:rPr lang="en-US" sz="3600" b="1" dirty="0" smtClean="0">
                <a:latin typeface="Times New Roman" pitchFamily="18" charset="0"/>
                <a:cs typeface="Times New Roman" pitchFamily="18" charset="0"/>
              </a:rPr>
              <a:t>2)Policy Planners / Government Agencies</a:t>
            </a:r>
            <a:r>
              <a:rPr lang="en-US" sz="3600" dirty="0" smtClean="0">
                <a:latin typeface="Times New Roman" pitchFamily="18" charset="0"/>
                <a:cs typeface="Times New Roman" pitchFamily="18" charset="0"/>
              </a:rPr>
              <a:t> </a:t>
            </a:r>
          </a:p>
          <a:p>
            <a:pPr>
              <a:buNone/>
            </a:pPr>
            <a:r>
              <a:rPr lang="en-US" sz="3600" dirty="0" smtClean="0">
                <a:latin typeface="Times New Roman" pitchFamily="18" charset="0"/>
                <a:cs typeface="Times New Roman" pitchFamily="18" charset="0"/>
              </a:rPr>
              <a:t>        Use data-driven insights for agricultural planning. </a:t>
            </a:r>
          </a:p>
          <a:p>
            <a:r>
              <a:rPr lang="en-US" sz="3600" dirty="0" smtClean="0">
                <a:latin typeface="Times New Roman" pitchFamily="18" charset="0"/>
                <a:cs typeface="Times New Roman" pitchFamily="18" charset="0"/>
              </a:rPr>
              <a:t>Identify high-risk seasons and regions. </a:t>
            </a:r>
          </a:p>
          <a:p>
            <a:r>
              <a:rPr lang="en-US" sz="3600" dirty="0" smtClean="0">
                <a:latin typeface="Times New Roman" pitchFamily="18" charset="0"/>
                <a:cs typeface="Times New Roman" pitchFamily="18" charset="0"/>
              </a:rPr>
              <a:t>Develop season-specific agricultural support programs. </a:t>
            </a:r>
          </a:p>
          <a:p>
            <a:pPr>
              <a:buNone/>
            </a:pPr>
            <a:r>
              <a:rPr lang="en-US" sz="3600" b="1" dirty="0" smtClean="0">
                <a:latin typeface="Times New Roman" pitchFamily="18" charset="0"/>
                <a:cs typeface="Times New Roman" pitchFamily="18" charset="0"/>
              </a:rPr>
              <a:t>3)Irrigation &amp; Water Management Bodies</a:t>
            </a:r>
            <a:r>
              <a:rPr lang="en-US" sz="3600" dirty="0" smtClean="0">
                <a:latin typeface="Times New Roman" pitchFamily="18" charset="0"/>
                <a:cs typeface="Times New Roman" pitchFamily="18" charset="0"/>
              </a:rPr>
              <a:t> </a:t>
            </a:r>
          </a:p>
          <a:p>
            <a:pPr>
              <a:buNone/>
            </a:pPr>
            <a:r>
              <a:rPr lang="en-US" sz="3600" dirty="0" smtClean="0">
                <a:latin typeface="Times New Roman" pitchFamily="18" charset="0"/>
                <a:cs typeface="Times New Roman" pitchFamily="18" charset="0"/>
              </a:rPr>
              <a:t>          Identify inefficient irrigation practices. </a:t>
            </a:r>
          </a:p>
          <a:p>
            <a:r>
              <a:rPr lang="en-US" sz="3600" dirty="0" smtClean="0">
                <a:latin typeface="Times New Roman" pitchFamily="18" charset="0"/>
                <a:cs typeface="Times New Roman" pitchFamily="18" charset="0"/>
              </a:rPr>
              <a:t>Promote </a:t>
            </a:r>
            <a:r>
              <a:rPr lang="en-US" sz="3600" b="1" dirty="0" smtClean="0">
                <a:latin typeface="Times New Roman" pitchFamily="18" charset="0"/>
                <a:cs typeface="Times New Roman" pitchFamily="18" charset="0"/>
              </a:rPr>
              <a:t>drip irrigation</a:t>
            </a:r>
            <a:r>
              <a:rPr lang="en-US" sz="3600" dirty="0" smtClean="0">
                <a:latin typeface="Times New Roman" pitchFamily="18" charset="0"/>
                <a:cs typeface="Times New Roman" pitchFamily="18" charset="0"/>
              </a:rPr>
              <a:t> and improve water-use efficiency. </a:t>
            </a:r>
          </a:p>
          <a:p>
            <a:r>
              <a:rPr lang="en-US" sz="3600" dirty="0" smtClean="0">
                <a:latin typeface="Times New Roman" pitchFamily="18" charset="0"/>
                <a:cs typeface="Times New Roman" pitchFamily="18" charset="0"/>
              </a:rPr>
              <a:t>Allocate water resources according to seasonal requirements. </a:t>
            </a:r>
          </a:p>
          <a:p>
            <a:pPr>
              <a:buNone/>
            </a:pPr>
            <a:r>
              <a:rPr lang="en-US" sz="3600" b="1" dirty="0" smtClean="0">
                <a:latin typeface="Times New Roman" pitchFamily="18" charset="0"/>
                <a:cs typeface="Times New Roman" pitchFamily="18" charset="0"/>
              </a:rPr>
              <a:t>4)</a:t>
            </a:r>
            <a:r>
              <a:rPr lang="en-US" sz="3600" b="1" dirty="0" err="1" smtClean="0">
                <a:latin typeface="Times New Roman" pitchFamily="18" charset="0"/>
                <a:cs typeface="Times New Roman" pitchFamily="18" charset="0"/>
              </a:rPr>
              <a:t>Agri</a:t>
            </a:r>
            <a:r>
              <a:rPr lang="en-US" sz="3600" b="1" dirty="0" smtClean="0">
                <a:latin typeface="Times New Roman" pitchFamily="18" charset="0"/>
                <a:cs typeface="Times New Roman" pitchFamily="18" charset="0"/>
              </a:rPr>
              <a:t>-Businesses &amp; Lenders</a:t>
            </a:r>
            <a:r>
              <a:rPr lang="en-US" sz="3600" dirty="0" smtClean="0">
                <a:latin typeface="Times New Roman" pitchFamily="18" charset="0"/>
                <a:cs typeface="Times New Roman" pitchFamily="18" charset="0"/>
              </a:rPr>
              <a:t> </a:t>
            </a:r>
          </a:p>
          <a:p>
            <a:pPr>
              <a:buNone/>
            </a:pPr>
            <a:r>
              <a:rPr lang="en-US" sz="3600" dirty="0" smtClean="0">
                <a:latin typeface="Times New Roman" pitchFamily="18" charset="0"/>
                <a:cs typeface="Times New Roman" pitchFamily="18" charset="0"/>
              </a:rPr>
              <a:t>          Assess seasonal agricultural risks. </a:t>
            </a:r>
          </a:p>
          <a:p>
            <a:r>
              <a:rPr lang="en-US" sz="3600" dirty="0" smtClean="0">
                <a:latin typeface="Times New Roman" pitchFamily="18" charset="0"/>
                <a:cs typeface="Times New Roman" pitchFamily="18" charset="0"/>
              </a:rPr>
              <a:t>Support decisions related to </a:t>
            </a:r>
            <a:r>
              <a:rPr lang="en-US" sz="3600" b="1" dirty="0" smtClean="0">
                <a:latin typeface="Times New Roman" pitchFamily="18" charset="0"/>
                <a:cs typeface="Times New Roman" pitchFamily="18" charset="0"/>
              </a:rPr>
              <a:t>credit, insurance and farming contracts</a:t>
            </a:r>
            <a:r>
              <a:rPr lang="en-US" sz="3600" dirty="0" smtClean="0">
                <a:latin typeface="Times New Roman" pitchFamily="18" charset="0"/>
                <a:cs typeface="Times New Roman" pitchFamily="18" charset="0"/>
              </a:rPr>
              <a:t>. </a:t>
            </a:r>
          </a:p>
          <a:p>
            <a:r>
              <a:rPr lang="en-US" sz="3600" dirty="0" smtClean="0">
                <a:latin typeface="Times New Roman" pitchFamily="18" charset="0"/>
                <a:cs typeface="Times New Roman" pitchFamily="18" charset="0"/>
              </a:rPr>
              <a:t>Evaluate profitability a</a:t>
            </a:r>
            <a:endParaRPr lang="en-US" sz="3600" dirty="0" smtClean="0"/>
          </a:p>
          <a:p>
            <a:pPr algn="just">
              <a:lnSpc>
                <a:spcPct val="150000"/>
              </a:lnSpc>
            </a:pPr>
            <a:endParaRPr lang="en-IN" sz="3600" dirty="0"/>
          </a:p>
        </p:txBody>
      </p:sp>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3" end="13"/>
                                            </p:txEl>
                                          </p:spTgt>
                                        </p:tgtEl>
                                        <p:attrNameLst>
                                          <p:attrName>style.visibility</p:attrName>
                                        </p:attrNameLst>
                                      </p:cBhvr>
                                      <p:to>
                                        <p:strVal val="visible"/>
                                      </p:to>
                                    </p:set>
                                    <p:animEffect transition="in" filter="fade">
                                      <p:cBhvr>
                                        <p:cTn id="105" dur="1000"/>
                                        <p:tgtEl>
                                          <p:spTgt spid="2">
                                            <p:txEl>
                                              <p:pRg st="13" end="13"/>
                                            </p:txEl>
                                          </p:spTgt>
                                        </p:tgtEl>
                                      </p:cBhvr>
                                    </p:animEffect>
                                    <p:anim calcmode="lin" valueType="num">
                                      <p:cBhvr>
                                        <p:cTn id="10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
                                            <p:txEl>
                                              <p:pRg st="14" end="14"/>
                                            </p:txEl>
                                          </p:spTgt>
                                        </p:tgtEl>
                                        <p:attrNameLst>
                                          <p:attrName>style.visibility</p:attrName>
                                        </p:attrNameLst>
                                      </p:cBhvr>
                                      <p:to>
                                        <p:strVal val="visible"/>
                                      </p:to>
                                    </p:set>
                                    <p:animEffect transition="in" filter="fade">
                                      <p:cBhvr>
                                        <p:cTn id="112" dur="1000"/>
                                        <p:tgtEl>
                                          <p:spTgt spid="2">
                                            <p:txEl>
                                              <p:pRg st="14" end="14"/>
                                            </p:txEl>
                                          </p:spTgt>
                                        </p:tgtEl>
                                      </p:cBhvr>
                                    </p:animEffect>
                                    <p:anim calcmode="lin" valueType="num">
                                      <p:cBhvr>
                                        <p:cTn id="113"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
                                            <p:txEl>
                                              <p:pRg st="15" end="15"/>
                                            </p:txEl>
                                          </p:spTgt>
                                        </p:tgtEl>
                                        <p:attrNameLst>
                                          <p:attrName>style.visibility</p:attrName>
                                        </p:attrNameLst>
                                      </p:cBhvr>
                                      <p:to>
                                        <p:strVal val="visible"/>
                                      </p:to>
                                    </p:set>
                                    <p:animEffect transition="in" filter="fade">
                                      <p:cBhvr>
                                        <p:cTn id="119" dur="1000"/>
                                        <p:tgtEl>
                                          <p:spTgt spid="2">
                                            <p:txEl>
                                              <p:pRg st="15" end="15"/>
                                            </p:txEl>
                                          </p:spTgt>
                                        </p:tgtEl>
                                      </p:cBhvr>
                                    </p:animEffect>
                                    <p:anim calcmode="lin" valueType="num">
                                      <p:cBhvr>
                                        <p:cTn id="120"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121" dur="1000" fill="hold"/>
                                        <p:tgtEl>
                                          <p:spTgt spid="2">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
                                            <p:txEl>
                                              <p:pRg st="16" end="16"/>
                                            </p:txEl>
                                          </p:spTgt>
                                        </p:tgtEl>
                                        <p:attrNameLst>
                                          <p:attrName>style.visibility</p:attrName>
                                        </p:attrNameLst>
                                      </p:cBhvr>
                                      <p:to>
                                        <p:strVal val="visible"/>
                                      </p:to>
                                    </p:set>
                                    <p:animEffect transition="in" filter="fade">
                                      <p:cBhvr>
                                        <p:cTn id="126" dur="1000"/>
                                        <p:tgtEl>
                                          <p:spTgt spid="2">
                                            <p:txEl>
                                              <p:pRg st="16" end="16"/>
                                            </p:txEl>
                                          </p:spTgt>
                                        </p:tgtEl>
                                      </p:cBhvr>
                                    </p:animEffect>
                                    <p:anim calcmode="lin" valueType="num">
                                      <p:cBhvr>
                                        <p:cTn id="127" dur="1000" fill="hold"/>
                                        <p:tgtEl>
                                          <p:spTgt spid="2">
                                            <p:txEl>
                                              <p:pRg st="16" end="16"/>
                                            </p:txEl>
                                          </p:spTgt>
                                        </p:tgtEl>
                                        <p:attrNameLst>
                                          <p:attrName>ppt_x</p:attrName>
                                        </p:attrNameLst>
                                      </p:cBhvr>
                                      <p:tavLst>
                                        <p:tav tm="0">
                                          <p:val>
                                            <p:strVal val="#ppt_x"/>
                                          </p:val>
                                        </p:tav>
                                        <p:tav tm="100000">
                                          <p:val>
                                            <p:strVal val="#ppt_x"/>
                                          </p:val>
                                        </p:tav>
                                      </p:tavLst>
                                    </p:anim>
                                    <p:anim calcmode="lin" valueType="num">
                                      <p:cBhvr>
                                        <p:cTn id="128" dur="1000" fill="hold"/>
                                        <p:tgtEl>
                                          <p:spTgt spid="2">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1">
              <a:lnSpc>
                <a:spcPct val="150000"/>
              </a:lnSpc>
            </a:pPr>
            <a:r>
              <a:rPr lang="en-US" sz="1400" b="1" dirty="0" smtClean="0">
                <a:latin typeface="Times New Roman" pitchFamily="18" charset="0"/>
                <a:cs typeface="Times New Roman" pitchFamily="18" charset="0"/>
              </a:rPr>
              <a:t>Python</a:t>
            </a:r>
            <a:r>
              <a:rPr lang="en-US" sz="1400" dirty="0" smtClean="0">
                <a:latin typeface="Times New Roman" pitchFamily="18" charset="0"/>
                <a:cs typeface="Times New Roman" pitchFamily="18" charset="0"/>
              </a:rPr>
              <a:t> – Main programming language for data analysis. </a:t>
            </a:r>
          </a:p>
          <a:p>
            <a:pPr lvl="1">
              <a:lnSpc>
                <a:spcPct val="150000"/>
              </a:lnSpc>
            </a:pPr>
            <a:r>
              <a:rPr lang="en-US" sz="1400" b="1" dirty="0" smtClean="0">
                <a:latin typeface="Times New Roman" pitchFamily="18" charset="0"/>
                <a:cs typeface="Times New Roman" pitchFamily="18" charset="0"/>
              </a:rPr>
              <a:t>Pandas</a:t>
            </a:r>
            <a:r>
              <a:rPr lang="en-US" sz="1400" dirty="0" smtClean="0">
                <a:latin typeface="Times New Roman" pitchFamily="18" charset="0"/>
                <a:cs typeface="Times New Roman" pitchFamily="18" charset="0"/>
              </a:rPr>
              <a:t> – Data cleaning, manipulation, grouping, and analysis. </a:t>
            </a:r>
          </a:p>
          <a:p>
            <a:pPr lvl="1">
              <a:lnSpc>
                <a:spcPct val="150000"/>
              </a:lnSpc>
            </a:pPr>
            <a:r>
              <a:rPr lang="en-US" sz="1400" b="1" dirty="0" err="1" smtClean="0">
                <a:latin typeface="Times New Roman" pitchFamily="18" charset="0"/>
                <a:cs typeface="Times New Roman" pitchFamily="18" charset="0"/>
              </a:rPr>
              <a:t>NumPy</a:t>
            </a:r>
            <a:r>
              <a:rPr lang="en-US" sz="1400" dirty="0" smtClean="0">
                <a:latin typeface="Times New Roman" pitchFamily="18" charset="0"/>
                <a:cs typeface="Times New Roman" pitchFamily="18" charset="0"/>
              </a:rPr>
              <a:t> – Numerical computations and data processing. </a:t>
            </a:r>
          </a:p>
          <a:p>
            <a:pPr lvl="1">
              <a:lnSpc>
                <a:spcPct val="150000"/>
              </a:lnSpc>
            </a:pPr>
            <a:r>
              <a:rPr lang="en-US" sz="1400" b="1" dirty="0" err="1" smtClean="0">
                <a:latin typeface="Times New Roman" pitchFamily="18" charset="0"/>
                <a:cs typeface="Times New Roman" pitchFamily="18" charset="0"/>
              </a:rPr>
              <a:t>Jupyter</a:t>
            </a:r>
            <a:r>
              <a:rPr lang="en-US" sz="1400" b="1" dirty="0" smtClean="0">
                <a:latin typeface="Times New Roman" pitchFamily="18" charset="0"/>
                <a:cs typeface="Times New Roman" pitchFamily="18" charset="0"/>
              </a:rPr>
              <a:t> Notebook</a:t>
            </a:r>
            <a:r>
              <a:rPr lang="en-US" sz="1400" dirty="0" smtClean="0">
                <a:latin typeface="Times New Roman" pitchFamily="18" charset="0"/>
                <a:cs typeface="Times New Roman" pitchFamily="18" charset="0"/>
              </a:rPr>
              <a:t> – Developing and documenting the complete analytical workflow. </a:t>
            </a:r>
          </a:p>
          <a:p>
            <a:pPr lvl="1">
              <a:lnSpc>
                <a:spcPct val="150000"/>
              </a:lnSpc>
            </a:pPr>
            <a:r>
              <a:rPr lang="en-US" sz="1400" b="1" dirty="0" err="1" smtClean="0">
                <a:latin typeface="Times New Roman" pitchFamily="18" charset="0"/>
                <a:cs typeface="Times New Roman" pitchFamily="18" charset="0"/>
              </a:rPr>
              <a:t>Matplotlib</a:t>
            </a:r>
            <a:r>
              <a:rPr lang="en-US" sz="1400" dirty="0" smtClean="0">
                <a:latin typeface="Times New Roman" pitchFamily="18" charset="0"/>
                <a:cs typeface="Times New Roman" pitchFamily="18" charset="0"/>
              </a:rPr>
              <a:t> – Creating data visualizations and charts. </a:t>
            </a:r>
          </a:p>
          <a:p>
            <a:pPr lvl="1">
              <a:lnSpc>
                <a:spcPct val="150000"/>
              </a:lnSpc>
            </a:pPr>
            <a:r>
              <a:rPr lang="en-US" sz="1400" b="1" dirty="0" err="1" smtClean="0">
                <a:latin typeface="Times New Roman" pitchFamily="18" charset="0"/>
                <a:cs typeface="Times New Roman" pitchFamily="18" charset="0"/>
              </a:rPr>
              <a:t>Seaborn</a:t>
            </a:r>
            <a:r>
              <a:rPr lang="en-US" sz="1400" dirty="0" smtClean="0">
                <a:latin typeface="Times New Roman" pitchFamily="18" charset="0"/>
                <a:cs typeface="Times New Roman" pitchFamily="18" charset="0"/>
              </a:rPr>
              <a:t> – Visualizing seasonal patterns and relationships. </a:t>
            </a:r>
          </a:p>
          <a:p>
            <a:pPr lvl="1">
              <a:lnSpc>
                <a:spcPct val="150000"/>
              </a:lnSpc>
            </a:pPr>
            <a:r>
              <a:rPr lang="en-US" sz="1400" b="1" dirty="0" smtClean="0">
                <a:latin typeface="Times New Roman" pitchFamily="18" charset="0"/>
                <a:cs typeface="Times New Roman" pitchFamily="18" charset="0"/>
              </a:rPr>
              <a:t>Statistical Analysis</a:t>
            </a:r>
            <a:r>
              <a:rPr lang="en-US" sz="1400" dirty="0" smtClean="0">
                <a:latin typeface="Times New Roman" pitchFamily="18" charset="0"/>
                <a:cs typeface="Times New Roman" pitchFamily="18" charset="0"/>
              </a:rPr>
              <a:t> – Correlation, grouping, and comparison techniques</a:t>
            </a:r>
            <a:r>
              <a:rPr lang="en-US" sz="1400" dirty="0" smtClean="0"/>
              <a:t>.</a:t>
            </a:r>
            <a:endParaRPr lang="en-IN" sz="1400" dirty="0"/>
          </a:p>
        </p:txBody>
      </p:sp>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026" name="Picture 2" descr="C:\Users\Vijay\OneDrive\Pictures\Screenshots\Screenshot 2026-09-08 184557.png"/>
          <p:cNvPicPr>
            <a:picLocks noChangeAspect="1" noChangeArrowheads="1"/>
          </p:cNvPicPr>
          <p:nvPr/>
        </p:nvPicPr>
        <p:blipFill>
          <a:blip r:embed="rId3"/>
          <a:srcRect/>
          <a:stretch>
            <a:fillRect/>
          </a:stretch>
        </p:blipFill>
        <p:spPr bwMode="auto">
          <a:xfrm>
            <a:off x="628914" y="1186181"/>
            <a:ext cx="3142986" cy="2669539"/>
          </a:xfrm>
          <a:prstGeom prst="rect">
            <a:avLst/>
          </a:prstGeom>
          <a:noFill/>
        </p:spPr>
      </p:pic>
      <p:pic>
        <p:nvPicPr>
          <p:cNvPr id="1027" name="Picture 3" descr="C:\Users\Vijay\OneDrive\Pictures\Screenshots\Screenshot 2026-09-08 184632.png"/>
          <p:cNvPicPr>
            <a:picLocks noChangeAspect="1" noChangeArrowheads="1"/>
          </p:cNvPicPr>
          <p:nvPr/>
        </p:nvPicPr>
        <p:blipFill>
          <a:blip r:embed="rId4"/>
          <a:srcRect/>
          <a:stretch>
            <a:fillRect/>
          </a:stretch>
        </p:blipFill>
        <p:spPr bwMode="auto">
          <a:xfrm>
            <a:off x="3855719" y="1169475"/>
            <a:ext cx="4175761" cy="2611691"/>
          </a:xfrm>
          <a:prstGeom prst="rect">
            <a:avLst/>
          </a:prstGeom>
          <a:noFill/>
        </p:spPr>
      </p:pic>
      <p:pic>
        <p:nvPicPr>
          <p:cNvPr id="1028" name="Picture 4" descr="C:\Users\Vijay\OneDrive\Pictures\Screenshots\Screenshot 2026-09-08 184657.png"/>
          <p:cNvPicPr>
            <a:picLocks noChangeAspect="1" noChangeArrowheads="1"/>
          </p:cNvPicPr>
          <p:nvPr/>
        </p:nvPicPr>
        <p:blipFill>
          <a:blip r:embed="rId5"/>
          <a:srcRect/>
          <a:stretch>
            <a:fillRect/>
          </a:stretch>
        </p:blipFill>
        <p:spPr bwMode="auto">
          <a:xfrm>
            <a:off x="658355" y="4052654"/>
            <a:ext cx="3494545" cy="2172886"/>
          </a:xfrm>
          <a:prstGeom prst="rect">
            <a:avLst/>
          </a:prstGeom>
          <a:noFill/>
        </p:spPr>
      </p:pic>
      <p:pic>
        <p:nvPicPr>
          <p:cNvPr id="1029" name="Picture 5" descr="C:\Users\Vijay\OneDrive\Pictures\Screenshots\Screenshot 2026-09-08 184727.png"/>
          <p:cNvPicPr>
            <a:picLocks noChangeAspect="1" noChangeArrowheads="1"/>
          </p:cNvPicPr>
          <p:nvPr/>
        </p:nvPicPr>
        <p:blipFill>
          <a:blip r:embed="rId6"/>
          <a:srcRect/>
          <a:stretch>
            <a:fillRect/>
          </a:stretch>
        </p:blipFill>
        <p:spPr bwMode="auto">
          <a:xfrm>
            <a:off x="4579620" y="4107180"/>
            <a:ext cx="2781300" cy="2240280"/>
          </a:xfrm>
          <a:prstGeom prst="rect">
            <a:avLst/>
          </a:prstGeom>
          <a:noFill/>
        </p:spPr>
      </p:pic>
    </p:spTree>
    <p:extLst>
      <p:ext uri="{BB962C8B-B14F-4D97-AF65-F5344CB8AC3E}">
        <p14:creationId xmlns=""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050" name="Picture 2" descr="C:\Users\Vijay\OneDrive\Pictures\Screenshots\Screenshot 2026-09-08 184743.png"/>
          <p:cNvPicPr>
            <a:picLocks noChangeAspect="1" noChangeArrowheads="1"/>
          </p:cNvPicPr>
          <p:nvPr/>
        </p:nvPicPr>
        <p:blipFill>
          <a:blip r:embed="rId3"/>
          <a:srcRect/>
          <a:stretch>
            <a:fillRect/>
          </a:stretch>
        </p:blipFill>
        <p:spPr bwMode="auto">
          <a:xfrm>
            <a:off x="535624" y="1173480"/>
            <a:ext cx="3867072" cy="2391728"/>
          </a:xfrm>
          <a:prstGeom prst="rect">
            <a:avLst/>
          </a:prstGeom>
          <a:noFill/>
        </p:spPr>
      </p:pic>
      <p:pic>
        <p:nvPicPr>
          <p:cNvPr id="2051" name="Picture 3" descr="C:\Users\Vijay\OneDrive\Pictures\Screenshots\Screenshot 2026-09-08 184800.png"/>
          <p:cNvPicPr>
            <a:picLocks noChangeAspect="1" noChangeArrowheads="1"/>
          </p:cNvPicPr>
          <p:nvPr/>
        </p:nvPicPr>
        <p:blipFill>
          <a:blip r:embed="rId4"/>
          <a:srcRect/>
          <a:stretch>
            <a:fillRect/>
          </a:stretch>
        </p:blipFill>
        <p:spPr bwMode="auto">
          <a:xfrm>
            <a:off x="4470259" y="1196659"/>
            <a:ext cx="4074051" cy="2521901"/>
          </a:xfrm>
          <a:prstGeom prst="rect">
            <a:avLst/>
          </a:prstGeom>
          <a:noFill/>
        </p:spPr>
      </p:pic>
      <p:pic>
        <p:nvPicPr>
          <p:cNvPr id="2052" name="Picture 4" descr="C:\Users\Vijay\OneDrive\Pictures\Screenshots\Screenshot 2026-09-08 184815.png"/>
          <p:cNvPicPr>
            <a:picLocks noChangeAspect="1" noChangeArrowheads="1"/>
          </p:cNvPicPr>
          <p:nvPr/>
        </p:nvPicPr>
        <p:blipFill>
          <a:blip r:embed="rId5"/>
          <a:srcRect/>
          <a:stretch>
            <a:fillRect/>
          </a:stretch>
        </p:blipFill>
        <p:spPr bwMode="auto">
          <a:xfrm>
            <a:off x="665164" y="3771900"/>
            <a:ext cx="3747706" cy="2295525"/>
          </a:xfrm>
          <a:prstGeom prst="rect">
            <a:avLst/>
          </a:prstGeom>
          <a:noFill/>
        </p:spPr>
      </p:pic>
      <p:pic>
        <p:nvPicPr>
          <p:cNvPr id="2053" name="Picture 5" descr="C:\Users\Vijay\OneDrive\Pictures\Screenshots\Screenshot 2026-09-08 184829.png"/>
          <p:cNvPicPr>
            <a:picLocks noChangeAspect="1" noChangeArrowheads="1"/>
          </p:cNvPicPr>
          <p:nvPr/>
        </p:nvPicPr>
        <p:blipFill>
          <a:blip r:embed="rId6"/>
          <a:srcRect/>
          <a:stretch>
            <a:fillRect/>
          </a:stretch>
        </p:blipFill>
        <p:spPr bwMode="auto">
          <a:xfrm>
            <a:off x="4671060" y="3926409"/>
            <a:ext cx="3787140" cy="2337232"/>
          </a:xfrm>
          <a:prstGeom prst="rect">
            <a:avLst/>
          </a:prstGeom>
          <a:noFill/>
        </p:spPr>
      </p:pic>
    </p:spTree>
    <p:extLst>
      <p:ext uri="{BB962C8B-B14F-4D97-AF65-F5344CB8AC3E}">
        <p14:creationId xmlns=""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074" name="Picture 2" descr="C:\Users\Vijay\OneDrive\Pictures\Screenshots\Screenshot 2026-09-08 184844.png"/>
          <p:cNvPicPr>
            <a:picLocks noChangeAspect="1" noChangeArrowheads="1"/>
          </p:cNvPicPr>
          <p:nvPr/>
        </p:nvPicPr>
        <p:blipFill>
          <a:blip r:embed="rId3"/>
          <a:srcRect/>
          <a:stretch>
            <a:fillRect/>
          </a:stretch>
        </p:blipFill>
        <p:spPr bwMode="auto">
          <a:xfrm>
            <a:off x="644209" y="1278779"/>
            <a:ext cx="4247831" cy="2654094"/>
          </a:xfrm>
          <a:prstGeom prst="rect">
            <a:avLst/>
          </a:prstGeom>
          <a:noFill/>
        </p:spPr>
      </p:pic>
      <p:pic>
        <p:nvPicPr>
          <p:cNvPr id="3075" name="Picture 3" descr="C:\Users\Vijay\OneDrive\Pictures\Screenshots\Screenshot 2026-09-08 184901.png"/>
          <p:cNvPicPr>
            <a:picLocks noChangeAspect="1" noChangeArrowheads="1"/>
          </p:cNvPicPr>
          <p:nvPr/>
        </p:nvPicPr>
        <p:blipFill>
          <a:blip r:embed="rId4"/>
          <a:srcRect/>
          <a:stretch>
            <a:fillRect/>
          </a:stretch>
        </p:blipFill>
        <p:spPr bwMode="auto">
          <a:xfrm>
            <a:off x="5101949" y="1485900"/>
            <a:ext cx="4343461" cy="2446654"/>
          </a:xfrm>
          <a:prstGeom prst="rect">
            <a:avLst/>
          </a:prstGeom>
          <a:noFill/>
        </p:spPr>
      </p:pic>
      <p:pic>
        <p:nvPicPr>
          <p:cNvPr id="3076" name="Picture 4" descr="C:\Users\Vijay\OneDrive\Pictures\Screenshots\Screenshot 2026-09-08 184916.png"/>
          <p:cNvPicPr>
            <a:picLocks noChangeAspect="1" noChangeArrowheads="1"/>
          </p:cNvPicPr>
          <p:nvPr/>
        </p:nvPicPr>
        <p:blipFill>
          <a:blip r:embed="rId5"/>
          <a:srcRect/>
          <a:stretch>
            <a:fillRect/>
          </a:stretch>
        </p:blipFill>
        <p:spPr bwMode="auto">
          <a:xfrm>
            <a:off x="640715" y="4213860"/>
            <a:ext cx="4124653" cy="1920240"/>
          </a:xfrm>
          <a:prstGeom prst="rect">
            <a:avLst/>
          </a:prstGeom>
          <a:noFill/>
        </p:spPr>
      </p:pic>
      <p:pic>
        <p:nvPicPr>
          <p:cNvPr id="11" name="Picture 4" descr="C:\Users\Vijay\OneDrive\Pictures\Screenshots\Screenshot 2026-09-08 185121.png"/>
          <p:cNvPicPr>
            <a:picLocks noChangeAspect="1" noChangeArrowheads="1"/>
          </p:cNvPicPr>
          <p:nvPr/>
        </p:nvPicPr>
        <p:blipFill>
          <a:blip r:embed="rId6"/>
          <a:srcRect/>
          <a:stretch>
            <a:fillRect/>
          </a:stretch>
        </p:blipFill>
        <p:spPr bwMode="auto">
          <a:xfrm>
            <a:off x="4953789" y="4244340"/>
            <a:ext cx="4251171" cy="1783080"/>
          </a:xfrm>
          <a:prstGeom prst="rect">
            <a:avLst/>
          </a:prstGeom>
          <a:noFill/>
        </p:spPr>
      </p:pic>
    </p:spTree>
    <p:extLst>
      <p:ext uri="{BB962C8B-B14F-4D97-AF65-F5344CB8AC3E}">
        <p14:creationId xmlns=""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4098" name="Picture 2" descr="C:\Users\Vijay\OneDrive\Pictures\Screenshots\Screenshot 2026-09-08 184954.png"/>
          <p:cNvPicPr>
            <a:picLocks noChangeAspect="1" noChangeArrowheads="1"/>
          </p:cNvPicPr>
          <p:nvPr/>
        </p:nvPicPr>
        <p:blipFill>
          <a:blip r:embed="rId3"/>
          <a:srcRect/>
          <a:stretch>
            <a:fillRect/>
          </a:stretch>
        </p:blipFill>
        <p:spPr bwMode="auto">
          <a:xfrm>
            <a:off x="421005" y="1379220"/>
            <a:ext cx="7221855" cy="2311400"/>
          </a:xfrm>
          <a:prstGeom prst="rect">
            <a:avLst/>
          </a:prstGeom>
          <a:noFill/>
        </p:spPr>
      </p:pic>
      <p:pic>
        <p:nvPicPr>
          <p:cNvPr id="4099" name="Picture 3" descr="C:\Users\Vijay\OneDrive\Pictures\Screenshots\Screenshot 2026-09-08 185051.png"/>
          <p:cNvPicPr>
            <a:picLocks noChangeAspect="1" noChangeArrowheads="1"/>
          </p:cNvPicPr>
          <p:nvPr/>
        </p:nvPicPr>
        <p:blipFill>
          <a:blip r:embed="rId4"/>
          <a:srcRect/>
          <a:stretch>
            <a:fillRect/>
          </a:stretch>
        </p:blipFill>
        <p:spPr bwMode="auto">
          <a:xfrm>
            <a:off x="259080" y="3875780"/>
            <a:ext cx="7399020" cy="2334520"/>
          </a:xfrm>
          <a:prstGeom prst="rect">
            <a:avLst/>
          </a:prstGeom>
          <a:noFill/>
        </p:spPr>
      </p:pic>
    </p:spTree>
    <p:extLst>
      <p:ext uri="{BB962C8B-B14F-4D97-AF65-F5344CB8AC3E}">
        <p14:creationId xmlns=""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a:xfrm>
            <a:off x="675957" y="370589"/>
            <a:ext cx="4735798" cy="830997"/>
          </a:xfrm>
        </p:spPr>
        <p:txBody>
          <a:bodyPr>
            <a:normAutofit fontScale="90000"/>
          </a:bodyPr>
          <a:lstStyle/>
          <a:p>
            <a:r>
              <a:rPr lang="en-IN" sz="4000" dirty="0"/>
              <a:t>Future </a:t>
            </a:r>
            <a:r>
              <a:rPr lang="en-IN" sz="4000" dirty="0" smtClean="0"/>
              <a:t>scope</a:t>
            </a:r>
            <a:br>
              <a:rPr lang="en-IN" sz="4000" dirty="0" smtClean="0"/>
            </a:br>
            <a:r>
              <a:rPr lang="en-IN" sz="1600" dirty="0" smtClean="0">
                <a:latin typeface="Times New Roman" pitchFamily="18" charset="0"/>
                <a:cs typeface="Times New Roman" pitchFamily="18" charset="0"/>
              </a:rPr>
              <a:t>1) </a:t>
            </a:r>
            <a:r>
              <a:rPr lang="en-US" sz="1600" dirty="0" smtClean="0">
                <a:latin typeface="Times New Roman" pitchFamily="18" charset="0"/>
                <a:cs typeface="Times New Roman" pitchFamily="18" charset="0"/>
              </a:rPr>
              <a:t>Real-Time Data Integration</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Integrate live weather, soil, crop and market-price data        for continuous monitoring.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2) Predictive Analytics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Develop machine-learning models to predict crop yield, profit and seasonal risks.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3) Crop Recommendation System</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Recommend suitable crops based on season, soil, weather and available resources.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4) Disease &amp; Pest Prediction</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Build an early-warning system using weather and historical data to predict disease/pest outbreaks.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5) Smart Irrigation</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Integrate </a:t>
            </a:r>
            <a:r>
              <a:rPr lang="en-US" sz="1600" dirty="0" err="1" smtClean="0">
                <a:latin typeface="Times New Roman" pitchFamily="18" charset="0"/>
                <a:cs typeface="Times New Roman" pitchFamily="18" charset="0"/>
              </a:rPr>
              <a:t>IoT</a:t>
            </a:r>
            <a:r>
              <a:rPr lang="en-US" sz="1600" dirty="0" smtClean="0">
                <a:latin typeface="Times New Roman" pitchFamily="18" charset="0"/>
                <a:cs typeface="Times New Roman" pitchFamily="18" charset="0"/>
              </a:rPr>
              <a:t> sensors to provide real-time irrigation recommendations and improve water efficiency.</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6) Interactive Dashboard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Develop a web/mobile dashboard where farmers and decision-makers can explore seasonal performance and recommendations.</a:t>
            </a:r>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4000" dirty="0" smtClean="0"/>
              <a:t/>
            </a:r>
            <a:br>
              <a:rPr lang="en-IN" sz="4000" dirty="0" smtClean="0"/>
            </a:br>
            <a:r>
              <a:rPr lang="en-IN" sz="4000" dirty="0" smtClean="0"/>
              <a:t/>
            </a:r>
            <a:br>
              <a:rPr lang="en-IN" sz="4000" dirty="0" smtClean="0"/>
            </a:br>
            <a:endParaRPr lang="en-IN" sz="4000" dirty="0"/>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smtClean="0"/>
              <a:t>https://github.com/vijay-2004-kayala/Vijay04-Seasonal-Agriculture-performance-Analysis.git</a:t>
            </a:r>
            <a:endParaRPr lang="en-US" dirty="0"/>
          </a:p>
        </p:txBody>
      </p:sp>
    </p:spTree>
    <p:extLst>
      <p:ext uri="{BB962C8B-B14F-4D97-AF65-F5344CB8AC3E}">
        <p14:creationId xmlns=""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a:t>
            </a:r>
            <a:r>
              <a:rPr lang="en-IN" sz="3200" dirty="0" smtClean="0"/>
              <a:t>Visualization</a:t>
            </a:r>
            <a:br>
              <a:rPr lang="en-IN" sz="3200" dirty="0" smtClean="0"/>
            </a:br>
            <a:r>
              <a:rPr lang="en-IN" sz="3200" dirty="0" smtClean="0"/>
              <a:t/>
            </a:r>
            <a:br>
              <a:rPr lang="en-IN" sz="3200" dirty="0" smtClean="0"/>
            </a:br>
            <a:r>
              <a:rPr lang="en-IN" sz="3200" dirty="0" smtClean="0"/>
              <a:t> </a:t>
            </a:r>
            <a:endParaRPr lang="en-IN" sz="3200" dirty="0"/>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descr="C:\Users\Vijay\OneDrive\Pictures\Screenshots\Screenshot 2026-09-08 132627.png"/>
          <p:cNvPicPr>
            <a:picLocks noChangeAspect="1" noChangeArrowheads="1"/>
          </p:cNvPicPr>
          <p:nvPr/>
        </p:nvPicPr>
        <p:blipFill>
          <a:blip r:embed="rId3"/>
          <a:srcRect/>
          <a:stretch>
            <a:fillRect/>
          </a:stretch>
        </p:blipFill>
        <p:spPr bwMode="auto">
          <a:xfrm>
            <a:off x="970280" y="1378585"/>
            <a:ext cx="6731000" cy="4756150"/>
          </a:xfrm>
          <a:prstGeom prst="rect">
            <a:avLst/>
          </a:prstGeom>
          <a:noFill/>
        </p:spPr>
      </p:pic>
    </p:spTree>
    <p:extLst>
      <p:ext uri="{BB962C8B-B14F-4D97-AF65-F5344CB8AC3E}">
        <p14:creationId xmlns=""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1650</TotalTime>
  <Words>360</Words>
  <Application>Microsoft Office PowerPoint</Application>
  <PresentationFormat>Custom</PresentationFormat>
  <Paragraphs>49</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Future scope 1) Real-Time Data Integration  Integrate live weather, soil, crop and market-price data        for continuous monitoring.  2) Predictive Analytics Develop machine-learning models to predict crop yield, profit and seasonal risks.  3) Crop Recommendation System Recommend suitable crops based on season, soil, weather and available resources.  4) Disease &amp; Pest Prediction Build an early-warning system using weather and historical data to predict disease/pest outbreaks.  5) Smart Irrigation Integrate IoT sensors to provide real-time irrigation recommendations and improve water efficiency.  6) Interactive Dashboard Develop a web/mobile dashboard where farmers and decision-makers can explore seasonal performance and recommendations.    </vt:lpstr>
      <vt:lpstr>GitHub Link</vt:lpstr>
      <vt:lpstr>VOIS Course completion certificate -  Course name- Data Visualization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Vijay</cp:lastModifiedBy>
  <cp:revision>112</cp:revision>
  <dcterms:created xsi:type="dcterms:W3CDTF">2021-07-11T13:13:15Z</dcterms:created>
  <dcterms:modified xsi:type="dcterms:W3CDTF">2026-09-08T13:31:05Z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